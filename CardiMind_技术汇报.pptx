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8" r:id="rId13"/>
    <p:sldId id="271" r:id="rId14"/>
    <p:sldId id="273" r:id="rId15"/>
    <p:sldId id="274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44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4800" dirty="0" err="1"/>
              <a:t>Cardi</a:t>
            </a:r>
            <a:r>
              <a:rPr lang="en-US" altLang="zh-CN" sz="4800" dirty="0" err="1"/>
              <a:t>o</a:t>
            </a:r>
            <a:r>
              <a:rPr sz="4800" dirty="0" err="1"/>
              <a:t>Mind</a:t>
            </a:r>
            <a:r>
              <a:rPr sz="4800" dirty="0"/>
              <a:t> Multi-</a:t>
            </a:r>
            <a:r>
              <a:rPr sz="4800" dirty="0" err="1"/>
              <a:t>Agent医疗诊断系统</a:t>
            </a:r>
            <a:r>
              <a:rPr sz="4800" dirty="0"/>
              <a:t> </a:t>
            </a:r>
            <a:r>
              <a:rPr sz="4800" dirty="0" err="1"/>
              <a:t>技术汇报</a:t>
            </a:r>
            <a:endParaRPr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汇报时间：2</a:t>
            </a:r>
            <a:r>
              <a:rPr lang="en-US" dirty="0"/>
              <a:t>5</a:t>
            </a:r>
            <a:r>
              <a:rPr dirty="0"/>
              <a:t>分钟 </a:t>
            </a:r>
            <a:endParaRPr lang="en-US" dirty="0"/>
          </a:p>
          <a:p>
            <a:r>
              <a:rPr dirty="0"/>
              <a:t> </a:t>
            </a:r>
            <a:r>
              <a:rPr dirty="0" err="1"/>
              <a:t>汇报人</a:t>
            </a:r>
            <a:r>
              <a:rPr dirty="0"/>
              <a:t>：</a:t>
            </a:r>
            <a:r>
              <a:rPr lang="zh-CN" altLang="en-US" dirty="0"/>
              <a:t>裘逸骏</a:t>
            </a:r>
            <a:r>
              <a:rPr dirty="0"/>
              <a:t> </a:t>
            </a:r>
            <a:endParaRPr lang="en-US" dirty="0"/>
          </a:p>
          <a:p>
            <a:r>
              <a:rPr dirty="0"/>
              <a:t> 日期：2025年9月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现场演示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系统启动演示：Docker一键部署</a:t>
            </a:r>
            <a:endParaRPr dirty="0"/>
          </a:p>
          <a:p>
            <a:r>
              <a:rPr dirty="0"/>
              <a:t>诊断流程演示：使用case1.json</a:t>
            </a:r>
          </a:p>
          <a:p>
            <a:r>
              <a:rPr dirty="0" err="1"/>
              <a:t>Web界面：Streamlit交互</a:t>
            </a:r>
            <a:endParaRPr dirty="0"/>
          </a:p>
          <a:p>
            <a:r>
              <a:rPr dirty="0" err="1"/>
              <a:t>API调用：curl示例</a:t>
            </a:r>
            <a:endParaRPr dirty="0"/>
          </a:p>
          <a:p>
            <a:r>
              <a:rPr dirty="0" err="1"/>
              <a:t>测试结果：优化功能对比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基于Multi-Agent与RAG的医疗诊断辅助系统，模拟多位医生协作诊断，提供可解释的循证结论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一、技术选型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1.1 </a:t>
            </a:r>
            <a:r>
              <a:rPr dirty="0" err="1"/>
              <a:t>整体架构选择</a:t>
            </a:r>
            <a:endParaRPr dirty="0"/>
          </a:p>
          <a:p>
            <a:r>
              <a:rPr dirty="0" err="1"/>
              <a:t>模拟真实临床诊断流程：首诊发散</a:t>
            </a:r>
            <a:r>
              <a:rPr dirty="0"/>
              <a:t> → </a:t>
            </a:r>
            <a:r>
              <a:rPr dirty="0" err="1"/>
              <a:t>循证检索</a:t>
            </a:r>
            <a:r>
              <a:rPr dirty="0"/>
              <a:t> → </a:t>
            </a:r>
            <a:r>
              <a:rPr dirty="0" err="1"/>
              <a:t>质疑挑战</a:t>
            </a:r>
            <a:r>
              <a:rPr dirty="0"/>
              <a:t> → </a:t>
            </a:r>
            <a:r>
              <a:rPr dirty="0" err="1"/>
              <a:t>综合决策</a:t>
            </a:r>
            <a:endParaRPr dirty="0"/>
          </a:p>
          <a:p>
            <a:r>
              <a:rPr dirty="0" err="1"/>
              <a:t>专业分工明确，每个Agent专注特定任务</a:t>
            </a:r>
            <a:endParaRPr dirty="0"/>
          </a:p>
          <a:p>
            <a:r>
              <a:rPr dirty="0" err="1"/>
              <a:t>质量控制机制，通过质疑和挑战降低误诊风险</a:t>
            </a:r>
            <a:endParaRPr dirty="0"/>
          </a:p>
          <a:p>
            <a:r>
              <a:rPr dirty="0" err="1"/>
              <a:t>基于真实医疗文献，确保诊断的循证性</a:t>
            </a:r>
            <a:endParaRPr dirty="0"/>
          </a:p>
          <a:p>
            <a:r>
              <a:rPr dirty="0" err="1"/>
              <a:t>动态知识更新，可以不断添加新的医疗指南</a:t>
            </a:r>
            <a:endParaRPr dirty="0"/>
          </a:p>
          <a:p>
            <a:r>
              <a:rPr dirty="0" err="1"/>
              <a:t>可解释性强，每个诊断都有具体的文献依据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一、技术选型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>
                <a:latin typeface="+mn-ea"/>
              </a:rPr>
              <a:t>1.2 </a:t>
            </a:r>
            <a:r>
              <a:rPr lang="zh-CN" altLang="en-US" sz="2000" dirty="0">
                <a:latin typeface="+mn-ea"/>
              </a:rPr>
              <a:t>核心技术栈</a:t>
            </a:r>
          </a:p>
          <a:p>
            <a:r>
              <a:rPr sz="2000" dirty="0">
                <a:latin typeface="+mn-ea"/>
              </a:rPr>
              <a:t>DeepSeek-V3-0324：用于推理和诊断决策</a:t>
            </a:r>
          </a:p>
          <a:p>
            <a:r>
              <a:rPr sz="2000" dirty="0" err="1">
                <a:latin typeface="+mn-ea"/>
              </a:rPr>
              <a:t>选择理由：在医疗领域表现优秀，支持复杂的逻辑推理</a:t>
            </a:r>
            <a:endParaRPr sz="2000" dirty="0">
              <a:latin typeface="+mn-ea"/>
            </a:endParaRPr>
          </a:p>
          <a:p>
            <a:r>
              <a:rPr sz="2000" dirty="0">
                <a:latin typeface="+mn-ea"/>
              </a:rPr>
              <a:t>GME-Qwen2-VL-7B：用于文本向量化</a:t>
            </a:r>
          </a:p>
          <a:p>
            <a:r>
              <a:rPr sz="2000" dirty="0" err="1">
                <a:latin typeface="+mn-ea"/>
              </a:rPr>
              <a:t>支持中文医疗文本，嵌入质量高</a:t>
            </a:r>
            <a:endParaRPr sz="2000" dirty="0">
              <a:latin typeface="+mn-ea"/>
            </a:endParaRPr>
          </a:p>
          <a:p>
            <a:r>
              <a:rPr sz="2000" dirty="0" err="1">
                <a:latin typeface="+mn-ea"/>
              </a:rPr>
              <a:t>Flask：API服务，轻量级，易于部署</a:t>
            </a:r>
            <a:endParaRPr sz="2000" dirty="0">
              <a:latin typeface="+mn-ea"/>
            </a:endParaRPr>
          </a:p>
          <a:p>
            <a:r>
              <a:rPr sz="2000" dirty="0" err="1">
                <a:latin typeface="+mn-ea"/>
              </a:rPr>
              <a:t>Streamlit：Web界面，快速原型开发</a:t>
            </a:r>
            <a:endParaRPr sz="2000" dirty="0">
              <a:latin typeface="+mn-ea"/>
            </a:endParaRPr>
          </a:p>
          <a:p>
            <a:r>
              <a:rPr sz="2000" dirty="0" err="1">
                <a:latin typeface="+mn-ea"/>
              </a:rPr>
              <a:t>向量数据库：基于Pickle的本地存储，快速检索</a:t>
            </a:r>
            <a:endParaRPr sz="2000" dirty="0">
              <a:latin typeface="+mn-ea"/>
            </a:endParaRPr>
          </a:p>
          <a:p>
            <a:r>
              <a:rPr sz="2000" dirty="0">
                <a:latin typeface="+mn-ea"/>
              </a:rPr>
              <a:t>文档处理：PyPDF2处理PDF医疗文献</a:t>
            </a:r>
            <a:endParaRPr lang="en-US" sz="2000" dirty="0">
              <a:latin typeface="+mn-ea"/>
            </a:endParaRPr>
          </a:p>
          <a:p>
            <a:r>
              <a:rPr lang="en-US" altLang="zh-CN" sz="2000" dirty="0">
                <a:latin typeface="+mn-ea"/>
              </a:rPr>
              <a:t>Docker</a:t>
            </a:r>
            <a:r>
              <a:rPr lang="zh-CN" altLang="en-US" sz="2000" dirty="0">
                <a:latin typeface="+mn-ea"/>
              </a:rPr>
              <a:t>容器化：统一环境，便于分发和部署</a:t>
            </a:r>
          </a:p>
          <a:p>
            <a:r>
              <a:rPr lang="zh-CN" altLang="en-US" sz="2000" dirty="0">
                <a:latin typeface="+mn-ea"/>
              </a:rPr>
              <a:t>多种启动模式：支持</a:t>
            </a:r>
            <a:r>
              <a:rPr lang="en-US" altLang="zh-CN" sz="2000" dirty="0">
                <a:latin typeface="+mn-ea"/>
              </a:rPr>
              <a:t>API</a:t>
            </a:r>
            <a:r>
              <a:rPr lang="zh-CN" altLang="en-US" sz="2000" dirty="0">
                <a:latin typeface="+mn-ea"/>
              </a:rPr>
              <a:t>、</a:t>
            </a:r>
            <a:r>
              <a:rPr lang="en-US" altLang="zh-CN" sz="2000" dirty="0">
                <a:latin typeface="+mn-ea"/>
              </a:rPr>
              <a:t>Web</a:t>
            </a:r>
            <a:r>
              <a:rPr lang="zh-CN" altLang="en-US" sz="2000" dirty="0">
                <a:latin typeface="+mn-ea"/>
              </a:rPr>
              <a:t>、完整系统三种模式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一、技术选型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1.3 </a:t>
            </a:r>
            <a:r>
              <a:rPr dirty="0" err="1"/>
              <a:t>系统架构设计</a:t>
            </a:r>
            <a:endParaRPr dirty="0"/>
          </a:p>
          <a:p>
            <a:r>
              <a:rPr dirty="0" err="1"/>
              <a:t>Dr.Hypothesis（首诊发散者</a:t>
            </a:r>
            <a:r>
              <a:rPr dirty="0"/>
              <a:t>）：</a:t>
            </a:r>
            <a:r>
              <a:rPr dirty="0" err="1"/>
              <a:t>基于主诉快速生成诊断假设</a:t>
            </a:r>
            <a:endParaRPr dirty="0"/>
          </a:p>
          <a:p>
            <a:r>
              <a:rPr dirty="0" err="1"/>
              <a:t>Dr.Evidence（循证管理员</a:t>
            </a:r>
            <a:r>
              <a:rPr dirty="0"/>
              <a:t>）：</a:t>
            </a:r>
            <a:r>
              <a:rPr dirty="0" err="1"/>
              <a:t>调用RAG检索相关医疗指南</a:t>
            </a:r>
            <a:endParaRPr dirty="0"/>
          </a:p>
          <a:p>
            <a:r>
              <a:rPr dirty="0" err="1"/>
              <a:t>Dr.Challenger（质疑专家</a:t>
            </a:r>
            <a:r>
              <a:rPr dirty="0"/>
              <a:t>）：</a:t>
            </a:r>
            <a:r>
              <a:rPr dirty="0" err="1"/>
              <a:t>对假设进行质疑和验证</a:t>
            </a:r>
            <a:endParaRPr dirty="0"/>
          </a:p>
          <a:p>
            <a:r>
              <a:rPr dirty="0" err="1"/>
              <a:t>Dr.ClinicalReasoner（主任医师</a:t>
            </a:r>
            <a:r>
              <a:rPr dirty="0"/>
              <a:t>）：</a:t>
            </a:r>
            <a:r>
              <a:rPr dirty="0" err="1"/>
              <a:t>综合分析输出最终诊断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二、遇到的困难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>
                <a:latin typeface="+mn-ea"/>
              </a:rPr>
              <a:t>2.1 </a:t>
            </a:r>
            <a:r>
              <a:rPr sz="2800" dirty="0" err="1">
                <a:latin typeface="+mn-ea"/>
              </a:rPr>
              <a:t>技术实现困难</a:t>
            </a:r>
            <a:endParaRPr sz="2800" dirty="0">
              <a:latin typeface="+mn-ea"/>
            </a:endParaRPr>
          </a:p>
          <a:p>
            <a:r>
              <a:rPr sz="2800" dirty="0" err="1">
                <a:latin typeface="+mn-ea"/>
              </a:rPr>
              <a:t>初期模型输出格式不一致，JSON解析经常失败</a:t>
            </a:r>
            <a:endParaRPr sz="2800" dirty="0">
              <a:latin typeface="+mn-ea"/>
            </a:endParaRPr>
          </a:p>
          <a:p>
            <a:r>
              <a:rPr sz="2800" dirty="0" err="1">
                <a:latin typeface="+mn-ea"/>
              </a:rPr>
              <a:t>不同Agent的输出schema难以统一</a:t>
            </a:r>
            <a:endParaRPr sz="2800" dirty="0">
              <a:latin typeface="+mn-ea"/>
            </a:endParaRPr>
          </a:p>
          <a:p>
            <a:r>
              <a:rPr sz="2800" dirty="0" err="1">
                <a:latin typeface="+mn-ea"/>
              </a:rPr>
              <a:t>中文医疗术语的理解和生成存在偏差</a:t>
            </a:r>
            <a:endParaRPr sz="2800" dirty="0">
              <a:latin typeface="+mn-ea"/>
            </a:endParaRPr>
          </a:p>
          <a:p>
            <a:r>
              <a:rPr sz="2800" dirty="0" err="1">
                <a:latin typeface="+mn-ea"/>
              </a:rPr>
              <a:t>文本分块策略影响检索质量</a:t>
            </a:r>
            <a:endParaRPr sz="2800" dirty="0">
              <a:latin typeface="+mn-ea"/>
            </a:endParaRPr>
          </a:p>
          <a:p>
            <a:r>
              <a:rPr sz="2800" dirty="0" err="1">
                <a:latin typeface="+mn-ea"/>
              </a:rPr>
              <a:t>相似度阈值难以确定</a:t>
            </a:r>
            <a:endParaRPr lang="en-US" sz="2800" dirty="0">
              <a:latin typeface="+mn-ea"/>
            </a:endParaRPr>
          </a:p>
          <a:p>
            <a:r>
              <a:rPr lang="zh-CN" altLang="en-US" sz="2800" dirty="0">
                <a:latin typeface="+mn-ea"/>
              </a:rPr>
              <a:t>工作流程的容错机制设计困难</a:t>
            </a:r>
          </a:p>
          <a:p>
            <a:r>
              <a:rPr lang="zh-CN" altLang="en-US" sz="2800" dirty="0">
                <a:latin typeface="+mn-ea"/>
              </a:rPr>
              <a:t>如何平衡各</a:t>
            </a:r>
            <a:r>
              <a:rPr lang="en-US" altLang="zh-CN" sz="2800" dirty="0">
                <a:latin typeface="+mn-ea"/>
              </a:rPr>
              <a:t>Agent</a:t>
            </a:r>
            <a:r>
              <a:rPr lang="zh-CN" altLang="en-US" sz="2800" dirty="0">
                <a:latin typeface="+mn-ea"/>
              </a:rPr>
              <a:t>的权重和影响力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二、遇到的困难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2.2 </a:t>
            </a:r>
            <a:r>
              <a:rPr dirty="0" err="1"/>
              <a:t>系统集成困难</a:t>
            </a:r>
            <a:endParaRPr dirty="0"/>
          </a:p>
          <a:p>
            <a:r>
              <a:rPr dirty="0" err="1"/>
              <a:t>外部LLM</a:t>
            </a:r>
            <a:r>
              <a:rPr dirty="0"/>
              <a:t> </a:t>
            </a:r>
            <a:r>
              <a:rPr dirty="0" err="1"/>
              <a:t>API偶发性超时和限流</a:t>
            </a:r>
            <a:endParaRPr dirty="0"/>
          </a:p>
          <a:p>
            <a:r>
              <a:rPr dirty="0" err="1"/>
              <a:t>网络不稳定导致的连接中断</a:t>
            </a:r>
            <a:endParaRPr dirty="0"/>
          </a:p>
          <a:p>
            <a:r>
              <a:rPr dirty="0"/>
              <a:t>单次诊断流程耗时较长（30-60秒）</a:t>
            </a:r>
          </a:p>
          <a:p>
            <a:r>
              <a:rPr dirty="0" err="1"/>
              <a:t>向量检索在大文档库中的性能瓶颈</a:t>
            </a:r>
            <a:endParaRPr lang="en-US" dirty="0"/>
          </a:p>
          <a:p>
            <a:r>
              <a:rPr lang="zh-CN" altLang="en-US" dirty="0"/>
              <a:t>并发请求处理能力有限</a:t>
            </a:r>
          </a:p>
          <a:p>
            <a:r>
              <a:rPr lang="zh-CN" altLang="en-US" dirty="0"/>
              <a:t>医疗文献</a:t>
            </a:r>
            <a:r>
              <a:rPr lang="en-US" altLang="zh-CN" dirty="0"/>
              <a:t>PDF</a:t>
            </a:r>
            <a:r>
              <a:rPr lang="zh-CN" altLang="en-US" dirty="0"/>
              <a:t>提取质量参差不齐</a:t>
            </a:r>
          </a:p>
          <a:p>
            <a:r>
              <a:rPr lang="zh-CN" altLang="en-US" dirty="0"/>
              <a:t>文献更新和版本控制困难</a:t>
            </a:r>
          </a:p>
          <a:p>
            <a:r>
              <a:rPr lang="zh-CN" altLang="en-US" dirty="0"/>
              <a:t>测试用例的标准化和验证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二、遇到的困难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2.3 </a:t>
            </a:r>
            <a:r>
              <a:rPr dirty="0" err="1"/>
              <a:t>业务逻辑困难</a:t>
            </a:r>
            <a:endParaRPr dirty="0"/>
          </a:p>
          <a:p>
            <a:r>
              <a:rPr dirty="0" err="1"/>
              <a:t>如何将复杂的医疗诊断逻辑转化为Agent行为</a:t>
            </a:r>
            <a:endParaRPr dirty="0"/>
          </a:p>
          <a:p>
            <a:r>
              <a:rPr dirty="0" err="1"/>
              <a:t>诊断置信度的量化计算</a:t>
            </a:r>
            <a:endParaRPr dirty="0"/>
          </a:p>
          <a:p>
            <a:r>
              <a:rPr dirty="0" err="1"/>
              <a:t>鉴别诊断的生成和排序逻辑</a:t>
            </a:r>
            <a:endParaRPr lang="en-US" dirty="0"/>
          </a:p>
          <a:p>
            <a:r>
              <a:rPr lang="zh-CN" altLang="en-US" dirty="0"/>
              <a:t>确保</a:t>
            </a:r>
            <a:r>
              <a:rPr lang="en-US" altLang="zh-CN" dirty="0"/>
              <a:t>Agent</a:t>
            </a:r>
            <a:r>
              <a:rPr lang="zh-CN" altLang="en-US" dirty="0"/>
              <a:t>的诊断思路符合临床实践</a:t>
            </a:r>
          </a:p>
          <a:p>
            <a:r>
              <a:rPr lang="zh-CN" altLang="en-US" dirty="0"/>
              <a:t>处理不完整或矛盾的病历信息</a:t>
            </a:r>
          </a:p>
          <a:p>
            <a:r>
              <a:rPr lang="zh-CN" altLang="en-US" dirty="0"/>
              <a:t>平衡系统的保守性和准确性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三、测试验证工作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t>3.1 组件级测试</a:t>
            </a:r>
          </a:p>
          <a:p>
            <a:r>
              <a:t>test_llm_quick.py：LLM连接和基础功能测试</a:t>
            </a:r>
          </a:p>
          <a:p>
            <a:r>
              <a:t>test_evidence_agent.py：RAG检索功能验证</a:t>
            </a:r>
          </a:p>
          <a:p>
            <a:r>
              <a:t>test_system.py：系统组件集成测试</a:t>
            </a:r>
          </a:p>
          <a:p>
            <a:r>
              <a:t>test_challenger_optimized.py：质疑Agent的增强功能测试</a:t>
            </a:r>
          </a:p>
          <a:p>
            <a:r>
              <a:t>test_clinical_reasoner_optimized.py：临床推理Agent的优化验证</a:t>
            </a:r>
          </a:p>
          <a:p>
            <a:r>
              <a:t>test_multi_agent.py：完整Multi-Agent流程测试</a:t>
            </a:r>
          </a:p>
          <a:p>
            <a:r>
              <a:t>single_medical_test.py：单个病历文件测试工具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三、测试验证工作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3.2 真实病例验证</a:t>
            </a:r>
          </a:p>
          <a:p>
            <a:r>
              <a:t>准备了10个标准化病历（case1.json - case10.json）</a:t>
            </a:r>
          </a:p>
          <a:p>
            <a:r>
              <a:t>覆盖心血管、消化、呼吸等多个科室</a:t>
            </a:r>
          </a:p>
          <a:p>
            <a:r>
              <a:t>包含不同复杂度的诊断场景</a:t>
            </a:r>
          </a:p>
          <a:p>
            <a:r>
              <a:t>成功解析病历结构化信息：100%</a:t>
            </a:r>
          </a:p>
          <a:p>
            <a:r>
              <a:t>生成合理诊断假设：90%以上</a:t>
            </a:r>
          </a:p>
          <a:p>
            <a:r>
              <a:t>提供有价值的鉴别诊断：85%以上</a:t>
            </a:r>
          </a:p>
          <a:p>
            <a:r>
              <a:t>输出格式完全合规：95%以上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四、解决方案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设计了标准化的Agent间信息传递协议</a:t>
            </a:r>
            <a:endParaRPr dirty="0"/>
          </a:p>
          <a:p>
            <a:r>
              <a:rPr dirty="0" err="1"/>
              <a:t>实现了工作流程的异常恢复机制</a:t>
            </a:r>
            <a:endParaRPr dirty="0"/>
          </a:p>
          <a:p>
            <a:r>
              <a:rPr dirty="0" err="1"/>
              <a:t>建立了质量评分和权重调节系统</a:t>
            </a:r>
            <a:endParaRPr dirty="0"/>
          </a:p>
          <a:p>
            <a:r>
              <a:rPr dirty="0" err="1"/>
              <a:t>建立了API调用监控和告警</a:t>
            </a:r>
            <a:endParaRPr lang="en-US" dirty="0"/>
          </a:p>
          <a:p>
            <a:r>
              <a:rPr lang="zh-CN" altLang="en-US" dirty="0"/>
              <a:t>向量检索结果缓存</a:t>
            </a:r>
          </a:p>
          <a:p>
            <a:r>
              <a:rPr lang="en-US" altLang="zh-CN" dirty="0"/>
              <a:t>LLM</a:t>
            </a:r>
            <a:r>
              <a:rPr lang="zh-CN" altLang="en-US" dirty="0"/>
              <a:t>输出缓存（相同输入）</a:t>
            </a:r>
          </a:p>
          <a:p>
            <a:r>
              <a:rPr lang="zh-CN" altLang="en-US" dirty="0"/>
              <a:t>文献解析结果持久化</a:t>
            </a:r>
            <a:endParaRPr lang="en-US" altLang="zh-CN" dirty="0"/>
          </a:p>
          <a:p>
            <a:r>
              <a:rPr lang="en-US" altLang="zh-CN" dirty="0"/>
              <a:t>100%</a:t>
            </a:r>
            <a:r>
              <a:rPr lang="zh-CN" altLang="en-US" dirty="0"/>
              <a:t>符合</a:t>
            </a:r>
            <a:r>
              <a:rPr lang="en-US" altLang="zh-CN" dirty="0" err="1"/>
              <a:t>output_example.json</a:t>
            </a:r>
            <a:r>
              <a:rPr lang="zh-CN" altLang="en-US" dirty="0"/>
              <a:t>格式</a:t>
            </a:r>
            <a:endParaRPr lang="en-US" altLang="zh-CN" dirty="0"/>
          </a:p>
          <a:p>
            <a:r>
              <a:rPr lang="zh-CN" altLang="en-US" dirty="0"/>
              <a:t>自动清理</a:t>
            </a:r>
            <a:r>
              <a:rPr lang="en-US" altLang="zh-CN" dirty="0"/>
              <a:t>markdown</a:t>
            </a:r>
            <a:r>
              <a:rPr lang="zh-CN" altLang="en-US" dirty="0"/>
              <a:t>和格式干扰</a:t>
            </a:r>
          </a:p>
          <a:p>
            <a:r>
              <a:rPr lang="zh-CN" altLang="en-US" dirty="0"/>
              <a:t>字段交叉验证确保逻辑一致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五、系统介绍和使用说明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5.1 </a:t>
            </a:r>
            <a:r>
              <a:rPr dirty="0" err="1"/>
              <a:t>系统整体介绍</a:t>
            </a:r>
            <a:endParaRPr dirty="0"/>
          </a:p>
          <a:p>
            <a:r>
              <a:rPr dirty="0"/>
              <a:t>🏥 </a:t>
            </a:r>
            <a:r>
              <a:rPr dirty="0" err="1"/>
              <a:t>专业性：基于真实医疗指南和文献</a:t>
            </a:r>
            <a:endParaRPr dirty="0"/>
          </a:p>
          <a:p>
            <a:r>
              <a:rPr dirty="0"/>
              <a:t>🤝 </a:t>
            </a:r>
            <a:r>
              <a:rPr dirty="0" err="1"/>
              <a:t>协作性：多Agent模拟医生团队讨论</a:t>
            </a:r>
            <a:endParaRPr dirty="0"/>
          </a:p>
          <a:p>
            <a:r>
              <a:rPr dirty="0"/>
              <a:t>📊 </a:t>
            </a:r>
            <a:r>
              <a:rPr dirty="0" err="1"/>
              <a:t>可解释性：每个诊断都有详细依据</a:t>
            </a:r>
            <a:endParaRPr dirty="0"/>
          </a:p>
          <a:p>
            <a:r>
              <a:rPr dirty="0"/>
              <a:t>🔍 </a:t>
            </a:r>
            <a:r>
              <a:rPr dirty="0" err="1"/>
              <a:t>质量控制：内置质疑和验证机制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五、系统介绍和使用说明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5.2 </a:t>
            </a:r>
            <a:r>
              <a:rPr lang="zh-CN" altLang="en-US" dirty="0"/>
              <a:t>使用说明</a:t>
            </a:r>
            <a:endParaRPr lang="en-US" altLang="zh-CN" dirty="0"/>
          </a:p>
          <a:p>
            <a:r>
              <a:rPr lang="zh-CN" altLang="en-US" dirty="0"/>
              <a:t>详见</a:t>
            </a:r>
            <a:r>
              <a:rPr lang="en-US" altLang="zh-CN" dirty="0"/>
              <a:t>README.md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项目成果</a:t>
            </a:r>
            <a:endParaRPr dirty="0"/>
          </a:p>
          <a:p>
            <a:r>
              <a:rPr dirty="0"/>
              <a:t>✅ </a:t>
            </a:r>
            <a:r>
              <a:rPr dirty="0" err="1"/>
              <a:t>成功构建了完整的Multi-Agent医疗诊断系统</a:t>
            </a:r>
            <a:endParaRPr dirty="0"/>
          </a:p>
          <a:p>
            <a:r>
              <a:rPr dirty="0"/>
              <a:t>✅ </a:t>
            </a:r>
            <a:r>
              <a:rPr dirty="0" err="1"/>
              <a:t>实现了RAG技术与Multi-Agent的深度结合</a:t>
            </a:r>
            <a:endParaRPr dirty="0"/>
          </a:p>
          <a:p>
            <a:r>
              <a:rPr dirty="0"/>
              <a:t>✅ </a:t>
            </a:r>
            <a:r>
              <a:rPr dirty="0" err="1"/>
              <a:t>建立了完善的测试和质量控制体系</a:t>
            </a:r>
            <a:endParaRPr dirty="0"/>
          </a:p>
          <a:p>
            <a:r>
              <a:rPr dirty="0"/>
              <a:t>✅ </a:t>
            </a:r>
            <a:r>
              <a:rPr dirty="0" err="1"/>
              <a:t>提供了多种部署和使用方式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 err="1"/>
              <a:t>实现了Agent间的质疑和验证机制</a:t>
            </a:r>
            <a:endParaRPr dirty="0"/>
          </a:p>
          <a:p>
            <a:r>
              <a:rPr dirty="0" err="1"/>
              <a:t>建立了证据驱动的诊断决策框架</a:t>
            </a:r>
            <a:endParaRPr dirty="0"/>
          </a:p>
          <a:p>
            <a:r>
              <a:rPr dirty="0" err="1"/>
              <a:t>提供了完整的容器化部署解决方案</a:t>
            </a:r>
            <a:endParaRPr dirty="0"/>
          </a:p>
          <a:p>
            <a:r>
              <a:rPr dirty="0" err="1"/>
              <a:t>未来发展方向</a:t>
            </a:r>
            <a:endParaRPr dirty="0"/>
          </a:p>
          <a:p>
            <a:r>
              <a:rPr dirty="0" err="1"/>
              <a:t>增强多模态能力：支持影像、检验等多种数据</a:t>
            </a:r>
            <a:endParaRPr dirty="0"/>
          </a:p>
          <a:p>
            <a:r>
              <a:rPr dirty="0" err="1"/>
              <a:t>优化诊断精度：持续改进Agent算法和协作机制</a:t>
            </a:r>
            <a:endParaRPr dirty="0"/>
          </a:p>
          <a:p>
            <a:r>
              <a:rPr dirty="0" err="1"/>
              <a:t>提升系统性能：优化响应速度和并发能力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535</Words>
  <Application>Microsoft Office PowerPoint</Application>
  <PresentationFormat>全屏显示(4:3)</PresentationFormat>
  <Paragraphs>117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CardioMind Multi-Agent医疗诊断系统 技术汇报</vt:lpstr>
      <vt:lpstr>现场演示</vt:lpstr>
      <vt:lpstr>项目概览</vt:lpstr>
      <vt:lpstr>一、技术选型</vt:lpstr>
      <vt:lpstr>一、技术选型</vt:lpstr>
      <vt:lpstr>一、技术选型</vt:lpstr>
      <vt:lpstr>二、遇到的困难</vt:lpstr>
      <vt:lpstr>二、遇到的困难</vt:lpstr>
      <vt:lpstr>二、遇到的困难</vt:lpstr>
      <vt:lpstr>三、测试验证工作</vt:lpstr>
      <vt:lpstr>三、测试验证工作</vt:lpstr>
      <vt:lpstr>四、解决方案</vt:lpstr>
      <vt:lpstr>五、系统介绍和使用说明</vt:lpstr>
      <vt:lpstr>五、系统介绍和使用说明</vt:lpstr>
      <vt:lpstr>总结与展望</vt:lpstr>
      <vt:lpstr>总结与展望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逸骏 裘</cp:lastModifiedBy>
  <cp:revision>4</cp:revision>
  <dcterms:created xsi:type="dcterms:W3CDTF">2013-01-27T09:14:16Z</dcterms:created>
  <dcterms:modified xsi:type="dcterms:W3CDTF">2025-09-14T14:35:34Z</dcterms:modified>
  <cp:category/>
</cp:coreProperties>
</file>